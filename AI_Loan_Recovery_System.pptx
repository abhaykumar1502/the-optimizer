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%</c:v>
                </c:pt>
              </c:strCache>
            </c:strRef>
          </c:tx>
          <c:spPr>
            <a:solidFill>
              <a:srgbClr val="1E40AF"/>
            </a:solidFill>
            <a:ln w="38100" cap="flat">
              <a:solidFill>
                <a:srgbClr val="1E40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0AF"/>
              </a:solidFill>
              <a:ln w="9525" cap="flat">
                <a:solidFill>
                  <a:srgbClr val="1E40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18</c:v>
                </c:pt>
                <c:pt idx="2">
                  <c:v>42</c:v>
                </c:pt>
                <c:pt idx="3">
                  <c:v>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%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Recovery Rate
(Experian)</c:v>
                  </c:pt>
                  <c:pt idx="1">
                    <c:v>Collection Rate
(RTS Labs)</c:v>
                  </c:pt>
                  <c:pt idx="2">
                    <c:v>PTP Rate
(Apifonica)</c:v>
                  </c:pt>
                  <c:pt idx="3">
                    <c:v>Cost Reduction
(Apifonica)</c:v>
                  </c:pt>
                  <c:pt idx="4">
                    <c:v>Missed Reminders
(US Pilots)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30</c:v>
                </c:pt>
                <c:pt idx="2">
                  <c:v>107</c:v>
                </c:pt>
                <c:pt idx="3">
                  <c:v>78</c:v>
                </c:pt>
                <c:pt idx="4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1E40AF">
              <a:alpha val="15000"/>
            </a:srgbClr>
          </a:solidFill>
          <a:ln w="12700">
            <a:solidFill>
              <a:srgbClr val="1E40A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274320"/>
            <a:ext cx="548640" cy="548640"/>
          </a:xfrm>
          <a:prstGeom prst="ellipse">
            <a:avLst/>
          </a:prstGeom>
          <a:solidFill>
            <a:srgbClr val="1E40AF">
              <a:alpha val="3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75320" y="274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Smart Loan Recovery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Debt Recovery with NLP, Predictive Analytics &amp; Conversational 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5780" y="333756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" y="33375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Abhay Kumar Singh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3180" y="333756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3180" y="33375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Vipin Sharma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0580" y="333756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0580" y="33375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MD Ahsan Iqbal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97980" y="333756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7980" y="33375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Shivansh Setia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🏛  Chitkara University Institute of Engineering and Technology, Punjab, India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0" y="4434840"/>
            <a:ext cx="3291840" cy="411480"/>
          </a:xfrm>
          <a:prstGeom prst="roundRect">
            <a:avLst>
              <a:gd name="adj" fmla="val 44444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4434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📄 IEEE/Conference Paper   📅 2025   🌐 Global Research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1E40AF">
              <a:alpha val="10000"/>
            </a:srgbClr>
          </a:solidFill>
          <a:ln w="12700">
            <a:solidFill>
              <a:srgbClr val="1E40A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Loan Recovery Crisis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Current challenges in traditional debt collection methods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560320" cy="2606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5603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Collection success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with traditional agents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out of 5 efforts fail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↓ Declining Efficiency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560320" cy="2606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34440"/>
            <a:ext cx="25603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17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$4.92B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Global debt collection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software market (2023)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Growing 9.6% CAGR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↑ Expanding Market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560320" cy="2606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34440"/>
            <a:ext cx="25603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417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03504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Indian borrowers who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faced abusive recovery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Regulatory concern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↓ High Compliance Risk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1E40AF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023360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6908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💡  Key Insight: 4 out of every 5 collection efforts fail. Traditional methods are inefficient, costly, and harmful to borrower relationships.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Why AI? The Market Imperative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4864" cy="8046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Global debt collection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$4.92B (2023) → $9.27B (2030)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1508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+88.4% | CAGR 9.6%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67128"/>
            <a:ext cx="54864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12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2128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 in Finance market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441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$38.36B (2024) → $190.33B (2030)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24414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+396% | CAGR 30.6%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99816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99816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455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14553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 adoption in collections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3741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11% (2023) → 70%+ (2026 projected)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0" y="33741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+536% growth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06240"/>
            <a:ext cx="1645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$9.27B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5760" y="4562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2030 Market Size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67128" y="4206240"/>
            <a:ext cx="1645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167128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9.6%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167128" y="4562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CAGR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68496" y="4206240"/>
            <a:ext cx="1645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68496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70%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968496" y="4562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Adoption Target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52160" y="1143000"/>
            <a:ext cx="29260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AI Adoption Trajectory 2023–2026</a:t>
            </a:r>
            <a:endParaRPr lang="en-US" sz="12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5897880" y="1600200"/>
          <a:ext cx="2834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8869680" y="4892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Comprehensive framework for AI-based loan recovery system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697480" y="12801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Design AI System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Develop robust, scalable architecture integrating data ingestion, predictive analytics, and conversational AI.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887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50408" y="12801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1325880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10128" y="18745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Examine Core AI Technologies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Analyze NLP, ASR, TTS, and ML algorithms for effectiveness in loan recovery scenarios.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118872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03336" y="12801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08776" y="1325880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63056" y="18745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Analyze Integration Capabilities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63056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Evaluate integration with LMS, CRM, and payment systems for seamless data flow.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97480" y="30175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063240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36118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Evaluate RBI Compliance Framework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931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Assess regulatory requirements and develop mechanisms to ensure adherence to RBI guidelines.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18688" y="292608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50408" y="30175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55848" y="3063240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10128" y="36118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Present Real-World Case Studies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10128" y="3931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Analyze deployment results from India and Mexico to demonstrate practical effectiveness.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71616" y="2926080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03336" y="30175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08776" y="3063240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08776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🛣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63056" y="36118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Identify Challenges &amp; Future Directions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63056" y="3931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Explore potential obstacles and research gaps to guide future development.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869680" y="4892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5-layer AI-powered loan recovery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554480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🗄 Data Ingestion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LMS, CRM, CIBIL integration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1371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23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Payment history, borrower profiles, credit scores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74520" y="2697480"/>
            <a:ext cx="34747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0972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097280"/>
            <a:ext cx="1554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097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Predictive Analytics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XGBoost, LightGBM models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2423160"/>
            <a:ext cx="1371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423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Repayment Propensity Score calculation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11880" y="2697480"/>
            <a:ext cx="34747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10972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94760" y="1097280"/>
            <a:ext cx="15544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097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Conversational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NLP + ASR + TTS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86200" y="2423160"/>
            <a:ext cx="1371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2423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10+ languages supported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49240" y="2697480"/>
            <a:ext cx="34747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10972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32120" y="1097280"/>
            <a:ext cx="155448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1097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❤️ Sentiment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BERT/LLM models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23560" y="2423160"/>
            <a:ext cx="1371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2423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Real-time distress detection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86600" y="2697480"/>
            <a:ext cx="34747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9480" y="10972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69480" y="1097280"/>
            <a:ext cx="155448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1097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 Compliance &amp; Audit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RBI rules enforcement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60920" y="2423160"/>
            <a:ext cx="1371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60920" y="2423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Hard constraints + audit logging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71600" y="4572000"/>
            <a:ext cx="137160" cy="1371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54480" y="455371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 Layer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4572000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455371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Analytics Layer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80560" y="4572000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55371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Layer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4572000"/>
            <a:ext cx="137160" cy="1371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455371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Analysis Layer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89520" y="4572000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0" y="455371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Compliance Layer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869680" y="4892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AI 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Technology stack powering the AI loan recovery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97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80160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NLP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Active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Understands borrower intent regardless of phrasing, enabling natural language processing for loan recovery conversations.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25146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146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Intent recognition • Context understanding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18688" y="1143000"/>
            <a:ext cx="2697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280160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280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04488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ASR / TTS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04488" y="15727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Active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185623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Real-time speech-to-text and text-to-speech for seamless voice interactions with borrowers.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10128" y="2514600"/>
            <a:ext cx="25146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5146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10+ languages • 500+ dialects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71616" y="1143000"/>
            <a:ext cx="2697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08776" y="128016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280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57416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XGBoost / LightGBM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57416" y="15727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Active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63056" y="185623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Repayment Propensity Scoring using gradient boosting algorithms for accurate prediction.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3056" y="2514600"/>
            <a:ext cx="25146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25146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97% accuracy • Real-time scoring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017520"/>
            <a:ext cx="2697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154680"/>
            <a:ext cx="475488" cy="47548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156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BERT / LLM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34472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Active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730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Sentiment &amp; distress classification using transformer models for borrower emotional analysis.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25146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891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Emotion detection • Risk assessment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18688" y="3017520"/>
            <a:ext cx="2697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55848" y="3154680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55848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904488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Compliance Engine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904488" y="34472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Active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10128" y="3730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RBI rule enforcement + audit logging for regulatory compliance and risk management.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10128" y="4389120"/>
            <a:ext cx="25146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43891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Automated compliance • Audit trail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71616" y="3017520"/>
            <a:ext cx="2697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08776" y="3154680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08776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57416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API / ETL Pipeline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757416" y="34472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Active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63056" y="3730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LMS, CRM, CIBIL, UPI integration for seamless data flow across systems.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63056" y="4389120"/>
            <a:ext cx="25146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63056" y="43891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Real-time sync • Secure transfer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869680" y="4892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Call Flow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5-step intelligent conversation process for loan recovery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1480" cy="4114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521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Identification &amp; Disclosure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081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identifies itself + lending institution (RBI mandatory requirement)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2618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AI identifies itself   🏦 Bank name disclosed   🛡 RBI compliant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09560" y="1280160"/>
            <a:ext cx="77724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280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Active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011680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929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Intent Probing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1854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Bot inquires about overdue awareness + payment 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0391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❓ Overdue awareness check   👛 Payment ability assessment   📅 Timeline confirmation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09560" y="2057400"/>
            <a:ext cx="777240" cy="292608"/>
          </a:xfrm>
          <a:prstGeom prst="roundRect">
            <a:avLst>
              <a:gd name="adj" fmla="val 3125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20574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In Progress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78892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7066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Offer Presentation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Personalised repayment options based on Repayment Propensity Score + segment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8163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% Interest rate options   ⏰ Tenure flexibility   🧮 EMI calculation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09560" y="2834640"/>
            <a:ext cx="77724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2834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Active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84124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566160"/>
            <a:ext cx="411480" cy="4114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34838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Payment Facilitation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37398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UPI link via SMS/WhatsApp + Promise to Pay recorded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35935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📱 UPI integration   💬 SMS/WhatsApp   📄 PTP recording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09560" y="3611880"/>
            <a:ext cx="777240" cy="292608"/>
          </a:xfrm>
          <a:prstGeom prst="roundRect">
            <a:avLst>
              <a:gd name="adj" fmla="val 3125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9560" y="36118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Pending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343400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5840" y="42611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Escalation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05840" y="45171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Disputes/distress → human agent with full context summary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43708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👔 Human agent   🕑 Context transfer   ⚠ Priority handling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09560" y="4389120"/>
            <a:ext cx="77724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09560" y="43891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Active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869680" y="4892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1E40AF">
              <a:alpha val="10000"/>
            </a:srgbClr>
          </a:solidFill>
          <a:ln w="12700">
            <a:solidFill>
              <a:srgbClr val="1E40A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1: Rezo AI — Indian NBFC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AI-powered loan recovery deployment in Indian financial sector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20240" cy="320040"/>
          </a:xfrm>
          <a:prstGeom prst="roundRect">
            <a:avLst>
              <a:gd name="adj" fmla="val 28571"/>
            </a:avLst>
          </a:prstGeom>
          <a:solidFill>
            <a:srgbClr val="1E40AF">
              <a:alpha val="2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🏦 Leading NBFC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320040"/>
          </a:xfrm>
          <a:prstGeom prst="roundRect">
            <a:avLst>
              <a:gd name="adj" fmla="val 28571"/>
            </a:avLst>
          </a:prstGeom>
          <a:solidFill>
            <a:srgbClr val="1E40AF">
              <a:alpha val="2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51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👥 15M+ customers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1920240" cy="320040"/>
          </a:xfrm>
          <a:prstGeom prst="roundRect">
            <a:avLst>
              <a:gd name="adj" fmla="val 28571"/>
            </a:avLst>
          </a:prstGeom>
          <a:solidFill>
            <a:srgbClr val="1E40AF">
              <a:alpha val="2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51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💰 $10B loan book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1051560"/>
            <a:ext cx="1920240" cy="320040"/>
          </a:xfrm>
          <a:prstGeom prst="roundRect">
            <a:avLst>
              <a:gd name="adj" fmla="val 28571"/>
            </a:avLst>
          </a:prstGeom>
          <a:solidFill>
            <a:srgbClr val="1E40AF">
              <a:alpha val="2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051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🏆 Live Deployment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512064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Performance: Before vs After 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1993392"/>
            <a:ext cx="50292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665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Collection Efficiency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20391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</a:rPr>
              <a:t>85%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31720" y="239572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BEFORE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46120" y="20391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97%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239572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AFTER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06240" y="210312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+12pts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615184"/>
            <a:ext cx="50292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6883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Customer Satisfaction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1720" y="26609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</a:rPr>
              <a:t>62%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331720" y="301752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BEFORE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46120" y="26609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89%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46120" y="301752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AFTER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06240" y="2724912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27249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+27pts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3236976"/>
            <a:ext cx="50292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310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Human Escalation Rate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31720" y="32826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</a:rPr>
              <a:t>100%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331720" y="363931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BEFORE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46120" y="32826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22%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246120" y="363931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AFTER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06240" y="3346704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33467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-78pts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0" y="1508760"/>
            <a:ext cx="3108960" cy="2377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15727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 Key Lessons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715000" y="1965960"/>
            <a:ext cx="30175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15000" y="1965960"/>
            <a:ext cx="4572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33872" y="200253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✓  Linguistic localisation is critical in multilingual markets — 10+ languages, 500+ dialects.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15000" y="2587752"/>
            <a:ext cx="30175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15000" y="2587752"/>
            <a:ext cx="4572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26243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✓  Segmenting by default reason yields materially better outcomes; recovery rates up 35%.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715000" y="3209544"/>
            <a:ext cx="30175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15000" y="3209544"/>
            <a:ext cx="4572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33872" y="32461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✓  AI improves both recovery rates AND borrower satisfaction simultaneously.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069080"/>
            <a:ext cx="8412480" cy="475488"/>
          </a:xfrm>
          <a:prstGeom prst="rect">
            <a:avLst/>
          </a:prstGeom>
          <a:solidFill>
            <a:srgbClr val="1E40AF">
              <a:alpha val="2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0965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⚡ Deployed in 2 weeks    🌐 10+ languages    🗣 500+ dialects    📊 97% collection efficiency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Case Study 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2: Apifonica — Mexico Microloans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AI-powered loan recovery in the Mexican microfinance market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🌎 42B pesos market     📊 20%+ overdue rates     💵 $294 avg loan     📅 90+ DPD accounts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1480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83080"/>
            <a:ext cx="457200" cy="457200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PTP Rate Improvement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+107%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25786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vs 0.14% (human)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944368"/>
            <a:ext cx="10972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Human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127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0.14%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783080" y="2944368"/>
            <a:ext cx="10972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2971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3127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0.29%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63240" y="2944368"/>
            <a:ext cx="10972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2971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Gain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63240" y="3127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2.07×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691640"/>
            <a:ext cx="411480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Campaign Cost Savings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2240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$8,500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85800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-$31,000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0" y="25786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vs $39,500 (human)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2944368"/>
            <a:ext cx="10972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971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Human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127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$39,500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72200" y="2944368"/>
            <a:ext cx="10972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2971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3127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$8,500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452360" y="2944368"/>
            <a:ext cx="10972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971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Saved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52360" y="3127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78%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3840480"/>
            <a:ext cx="8412480" cy="6583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84048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8862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💡  Key Insight: Campaign completed in 1 extra day vs nearly 2 months for human teams. Optimal automation rate: 40-60% — balancing AI efficiency with human empathy.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Optimal Automation Rate: 40-60%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869680" y="4892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Case Study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Side-by-side comparison of AI deployment in India vs Mexico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Parameter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05156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🇮🇳  Rezo AI (India)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23560" y="105156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🇲🇽  Apifonica (Mexico)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35608"/>
            <a:ext cx="8412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🌐  Geography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53896"/>
            <a:ext cx="3017520" cy="301752"/>
          </a:xfrm>
          <a:prstGeom prst="rect">
            <a:avLst/>
          </a:prstGeom>
          <a:solidFill>
            <a:srgbClr val="1E40AF">
              <a:alpha val="8000"/>
            </a:srgbClr>
          </a:solidFill>
          <a:ln w="12700">
            <a:solidFill>
              <a:srgbClr val="1E40A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4721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India — Leading NBFC  ·  15M+ customers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1453896"/>
            <a:ext cx="3017520" cy="301752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721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Mexico — 42B pesos market  ·  Microloan segment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810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💰  Loan Type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1801368"/>
            <a:ext cx="3017520" cy="301752"/>
          </a:xfrm>
          <a:prstGeom prst="rect">
            <a:avLst/>
          </a:prstGeom>
          <a:solidFill>
            <a:srgbClr val="1E40AF">
              <a:alpha val="8000"/>
            </a:srgbClr>
          </a:solidFill>
          <a:ln w="12700">
            <a:solidFill>
              <a:srgbClr val="1E40A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18196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Consumer, Housing, SME, Rural  ·  $10B loan 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32120" y="1801368"/>
            <a:ext cx="3017520" cy="301752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8196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Microloans ($294 avg)  ·  20%+ overdue 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130552"/>
            <a:ext cx="8412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579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🎯  Target Segment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2148840"/>
            <a:ext cx="3017520" cy="301752"/>
          </a:xfrm>
          <a:prstGeom prst="rect">
            <a:avLst/>
          </a:prstGeom>
          <a:solidFill>
            <a:srgbClr val="1E40AF">
              <a:alpha val="8000"/>
            </a:srgbClr>
          </a:solidFill>
          <a:ln w="12700">
            <a:solidFill>
              <a:srgbClr val="1E40A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2167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All DPD stages  ·  90+ DPD accounts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2148840"/>
            <a:ext cx="3017520" cy="301752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2167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90+ DPD only  ·  100% focus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25054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🤖  Automation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2496312"/>
            <a:ext cx="3017520" cy="301752"/>
          </a:xfrm>
          <a:prstGeom prst="rect">
            <a:avLst/>
          </a:prstGeom>
          <a:solidFill>
            <a:srgbClr val="1E40AF">
              <a:alpha val="8000"/>
            </a:srgbClr>
          </a:solidFill>
          <a:ln w="12700">
            <a:solidFill>
              <a:srgbClr val="1E40AF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25146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Partial (AI + human)  ·  22% escalation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2496312"/>
            <a:ext cx="3017520" cy="301752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5146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40-60% optimal  ·  30-day phased pilot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825496"/>
            <a:ext cx="84124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8529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📊  Key Outcome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2843784"/>
            <a:ext cx="3017520" cy="301752"/>
          </a:xfrm>
          <a:prstGeom prst="rect">
            <a:avLst/>
          </a:prstGeom>
          <a:solidFill>
            <a:srgbClr val="1E40AF">
              <a:alpha val="8000"/>
            </a:srgbClr>
          </a:solidFill>
          <a:ln w="12700">
            <a:solidFill>
              <a:srgbClr val="1E40AF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3160" y="28620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97% collection efficiency  ·  +12pts improvement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32120" y="2843784"/>
            <a:ext cx="3017520" cy="301752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28620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2.07× PTP rate  ·  $31K saved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200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⚡  Deployment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77440" y="3191256"/>
            <a:ext cx="3017520" cy="301752"/>
          </a:xfrm>
          <a:prstGeom prst="rect">
            <a:avLst/>
          </a:prstGeom>
          <a:solidFill>
            <a:srgbClr val="1E40AF">
              <a:alpha val="8000"/>
            </a:srgbClr>
          </a:solidFill>
          <a:ln w="12700">
            <a:solidFill>
              <a:srgbClr val="1E40AF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32095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2 weeks  ·  Fast rollout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32120" y="3191256"/>
            <a:ext cx="3017520" cy="301752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2095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30-day phased pilot  ·  Staged approach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1E40AF">
              <a:alpha val="12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663440"/>
            <a:ext cx="54864" cy="274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68172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💡  Both deployments confirm: AI simultaneously improves financial performance AND borrower experience.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ROI Across Real-World Deployments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Performance metrics from multiple AI loan recovery implementations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457200" y="114300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4805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4480560"/>
            <a:ext cx="45720" cy="47548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5079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+35%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736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Recovery Rate (Experian)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057400" y="44805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57400" y="4480560"/>
            <a:ext cx="4572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48840" y="45079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+30%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148840" y="4736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Collection Rate (RTS Labs)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749040" y="44805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49040" y="4480560"/>
            <a:ext cx="457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0" y="45079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+107%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40480" y="4736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PTP Rate (Apifonica)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440680" y="44805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40680" y="4480560"/>
            <a:ext cx="4572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32120" y="45079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+78%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32120" y="4736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Cost Reduction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132320" y="44805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0" y="4480560"/>
            <a:ext cx="45720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23760" y="45079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+35%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223760" y="4736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Missed Reminders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65760" y="50017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ⓘ Sources: Rezo AI (2024); Apifonica (2024); Experian (2024); RTS Labs (2025)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Compliance Framework (RBI)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Ensuring adherence to Reserve Bank of India guidelines for AI-powered loan recovery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Contact Window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Calls are hard-limited to 8:00 AM – 7:00 PM as per RBI guidelines. Auto-rescheduled if outside window.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87168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8716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8AM–7PM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2487168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48716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No calls outside window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6243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Active Compliance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325880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🪪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1371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Disclosure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19019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 identifies itself + bank name at every call start. Mandatory RBI requirement for transparency.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87168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48716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AI Disclosure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2487168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48716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Bank Name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6243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Active Compliance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154680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🎙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Recording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37307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All calls are auto-recorded, archived, and made searchable with full transcript support.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315968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1596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Auto-archived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68880" y="4315968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431596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Searchable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4531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Active Compliance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9718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154680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4068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No Harassment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00600" y="37307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NLP profanity filter + sentiment engine blocks violations and ensures respectful communication.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4315968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31596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Profanity Filter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4315968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31596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Sentiment Analysis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44531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Active Compliance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828032"/>
            <a:ext cx="841248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4828032"/>
            <a:ext cx="54864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✅  Compliance embedded by design — not retrofitted as an afterthought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 &amp; Mitigation Strategies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Addressing critical obstacles in AI-powered loan recovery implementation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840480" cy="67665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5720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5296"/>
            <a:ext cx="384048" cy="384048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 Privacy &amp; Security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Protecting sensitive borrower data and ensuring compliance with data protection regulations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12984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023360" cy="67665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97280"/>
            <a:ext cx="45720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225296"/>
            <a:ext cx="384048" cy="38404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1170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End-to-end Encryption + PCI DSS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1444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Implementing encryption protocols and PCI DSS compliance for secure data handling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847088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847088"/>
            <a:ext cx="3840480" cy="67665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847088"/>
            <a:ext cx="45720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975104"/>
            <a:ext cx="384048" cy="384048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975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⚖️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19202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Regulatory Complexity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Navigating complex regulatory frameworks across different jurisdictions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51960" y="20482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54880" y="1847088"/>
            <a:ext cx="4023360" cy="67665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847088"/>
            <a:ext cx="45720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975104"/>
            <a:ext cx="384048" cy="38404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975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1920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Hard-coded Compliance Constraints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Embedding regulatory requirements directly into the system architecture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596896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2596896"/>
            <a:ext cx="3840480" cy="67665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596896"/>
            <a:ext cx="45720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2724912"/>
            <a:ext cx="384048" cy="384048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0120" y="26700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Algorithmic Bias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0120" y="29443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Ensuring fair and unbiased AI decision-making across diverse borrower profiles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51960" y="27980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754880" y="2596896"/>
            <a:ext cx="4023360" cy="67665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596896"/>
            <a:ext cx="45720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92040" y="2724912"/>
            <a:ext cx="384048" cy="38404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👁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49240" y="26700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Fairness Audits + XAI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2944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Regular fairness audits and explainable AI for transparency and accountability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46704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346704"/>
            <a:ext cx="3840480" cy="67665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3346704"/>
            <a:ext cx="45720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3474720"/>
            <a:ext cx="384048" cy="384048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60120" y="34198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ASR in Multilingual Context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60120" y="36941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Handling diverse languages and dialects in voice recognition systems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251960" y="3547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4754880" y="3346704"/>
            <a:ext cx="4023360" cy="67665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3346704"/>
            <a:ext cx="45720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92040" y="3474720"/>
            <a:ext cx="384048" cy="38404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🎧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349240" y="34198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500+ Dialect Training + Human Fallback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49240" y="3694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Comprehensive dialect training with human intervention for low confidence cases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096512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5760" y="4096512"/>
            <a:ext cx="3840480" cy="67665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" y="4096512"/>
            <a:ext cx="45720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2920" y="4224528"/>
            <a:ext cx="384048" cy="384048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224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❤️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960120" y="41696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Borrower Trust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60120" y="44439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Building confidence in AI systems among borrowers and financial institutions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251960" y="4297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4754880" y="4096512"/>
            <a:ext cx="4023360" cy="67665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0" y="4096512"/>
            <a:ext cx="45720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92040" y="4224528"/>
            <a:ext cx="384048" cy="384048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92040" y="4224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🤝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5349240" y="41696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Transparent AI + Empathetic Design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349240" y="44439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Clear AI disclosure and human-centric design for better borrower experience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ⓘ All mitigation strategies are actively implemented and monitored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Research Directions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Next-generation AI capabilities for loan recovery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07592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Voice Biometrics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Authentication during calls using voice biometrics for enhanced security and fraud prevention.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143000" cy="219456"/>
          </a:xfrm>
          <a:prstGeom prst="roundRect">
            <a:avLst>
              <a:gd name="adj" fmla="val 208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</a:rPr>
              <a:t>Security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2560320"/>
            <a:ext cx="1143000" cy="219456"/>
          </a:xfrm>
          <a:prstGeom prst="roundRect">
            <a:avLst>
              <a:gd name="adj" fmla="val 208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56032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</a:rPr>
              <a:t>Auth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Research Phase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18688" y="1170432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1307592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Multilingual NLP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19019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Advanced NLP for Hindi-English, Tamil-English code-switching in multilingual contexts.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0128" y="2560320"/>
            <a:ext cx="1143000" cy="219456"/>
          </a:xfrm>
          <a:prstGeom prst="roundRect">
            <a:avLst>
              <a:gd name="adj" fmla="val 208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56032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</a:rPr>
              <a:t>Multilingual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90288" y="2560320"/>
            <a:ext cx="1143000" cy="219456"/>
          </a:xfrm>
          <a:prstGeom prst="roundRect">
            <a:avLst>
              <a:gd name="adj" fmla="val 208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256032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</a:rPr>
              <a:t>Code-switch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27432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Development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71616" y="1170432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8776" y="1307592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84848" y="13533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Generative 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63056" y="19019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Dynamic, context-aware call script generation for personalized borrower interactions.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63056" y="2560320"/>
            <a:ext cx="1143000" cy="219456"/>
          </a:xfrm>
          <a:prstGeom prst="roundRect">
            <a:avLst>
              <a:gd name="adj" fmla="val 208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256032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</a:rPr>
              <a:t>Dynamic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43216" y="2560320"/>
            <a:ext cx="1143000" cy="219456"/>
          </a:xfrm>
          <a:prstGeom prst="roundRect">
            <a:avLst>
              <a:gd name="adj" fmla="val 208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43216" y="256032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</a:rPr>
              <a:t>Scripts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63056" y="27432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Testing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090672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" y="3227832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227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🕸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78992" y="327355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Federated Learning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382219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Privacy-preserving cross-bank model training without sharing sensitive data.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480560"/>
            <a:ext cx="1143000" cy="219456"/>
          </a:xfrm>
          <a:prstGeom prst="roundRect">
            <a:avLst>
              <a:gd name="adj" fmla="val 208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8056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</a:rPr>
              <a:t>Privacy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37360" y="4480560"/>
            <a:ext cx="1143000" cy="219456"/>
          </a:xfrm>
          <a:prstGeom prst="roundRect">
            <a:avLst>
              <a:gd name="adj" fmla="val 208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37360" y="448056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</a:rPr>
              <a:t>Cross-bank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Research Phase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18688" y="3090672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355848" y="3227832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55848" y="3227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931920" y="327355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Explainable AI (XAI)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310128" y="382219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Transparent AI decisions for regulatory audit compliance and trust building.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10128" y="4480560"/>
            <a:ext cx="1143000" cy="219456"/>
          </a:xfrm>
          <a:prstGeom prst="roundRect">
            <a:avLst>
              <a:gd name="adj" fmla="val 208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10128" y="448056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</a:rPr>
              <a:t>Transparent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90288" y="4480560"/>
            <a:ext cx="1143000" cy="219456"/>
          </a:xfrm>
          <a:prstGeom prst="roundRect">
            <a:avLst>
              <a:gd name="adj" fmla="val 208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48056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</a:rPr>
              <a:t>Audit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310128" y="46634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Development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71616" y="3090672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08776" y="3227832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08776" y="3227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84848" y="327355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Proactive Prevention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163056" y="382219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Identify default risk before first missed payment using predictive analytics.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163056" y="4480560"/>
            <a:ext cx="1143000" cy="219456"/>
          </a:xfrm>
          <a:prstGeom prst="roundRect">
            <a:avLst>
              <a:gd name="adj" fmla="val 208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63056" y="448056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</a:rPr>
              <a:t>Predictive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443216" y="4480560"/>
            <a:ext cx="1143000" cy="219456"/>
          </a:xfrm>
          <a:prstGeom prst="roundRect">
            <a:avLst>
              <a:gd name="adj" fmla="val 208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43216" y="448056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</a:rPr>
              <a:t>Early Warning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163056" y="46634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● Testing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1E40AF">
              <a:alpha val="10000"/>
            </a:srgbClr>
          </a:solidFill>
          <a:ln w="12700">
            <a:solidFill>
              <a:srgbClr val="1E40A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Key takeaways from AI-powered loan recovery system research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411480" cy="411480"/>
          </a:xfrm>
          <a:prstGeom prst="ellipse">
            <a:avLst/>
          </a:prstGeom>
          <a:solidFill>
            <a:srgbClr val="1E40AF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AI loan recovery systems deliver 30–107% improvements in collection metrics across diverse geographies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5727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Multiple deployments confirm significant performance gains in recovery rates, collection efficiency, and borrower satisfaction when AI is properly implemented.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841248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77440"/>
            <a:ext cx="411480" cy="411480"/>
          </a:xfrm>
          <a:prstGeom prst="ellipse">
            <a:avLst/>
          </a:prstGeom>
          <a:solidFill>
            <a:srgbClr val="1E40AF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AI does not trade borrower experience for efficiency — properly designed systems improve both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5786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Evidence from Rezo AI and Apifonica shows 97% collection efficiency with 89% customer satisfaction simultaneously achieved.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841248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383280"/>
            <a:ext cx="411480" cy="411480"/>
          </a:xfrm>
          <a:prstGeom prst="ellipse">
            <a:avLst/>
          </a:prstGeom>
          <a:solidFill>
            <a:srgbClr val="1E40AF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The question is no longer WHETHER AI belongs in loan recovery — but HOW QUICKLY institutions can implement it responsibly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5844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The technology is proven; the challenge now is scaling adoption while maintaining regulatory compliance and ethical standards.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251960"/>
            <a:ext cx="8412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👤 Abhay Kumar Singh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👤 Vipin Sharma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👤 MD Ahsan Iqbal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👤 Shivansh Setia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59028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🏛  Chitkara University Institute of Engineering and Technology, Punjab, India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43159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Thank You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943600" y="46634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Questions &amp; Discussion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864608"/>
            <a:ext cx="36576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87375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ⓘ  References: Rezo AI (2024); Apifonica (2024); Experian (2024); RTS Labs (2025); RBI Guidelines (2024)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78240" y="49377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Loan Recovery Calling System</dc:title>
  <dc:subject>PptxGenJS Presentation</dc:subject>
  <dc:creator>Abhay Kumar Singh, Vipin Sharma, MD Ahsan Iqbal, Shivansh Setia</dc:creator>
  <cp:lastModifiedBy>Abhay Kumar Singh, Vipin Sharma, MD Ahsan Iqbal, Shivansh Setia</cp:lastModifiedBy>
  <cp:revision>1</cp:revision>
  <dcterms:created xsi:type="dcterms:W3CDTF">2026-05-04T05:24:12Z</dcterms:created>
  <dcterms:modified xsi:type="dcterms:W3CDTF">2026-05-04T05:24:12Z</dcterms:modified>
</cp:coreProperties>
</file>