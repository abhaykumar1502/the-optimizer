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1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Market Growth ($B)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1F77B4"/>
              </a:solidFill>
            </c:spPr>
          </c:dPt>
          <c:dPt>
            <c:idx val="3"/>
            <c:spPr>
              <a:solidFill>
                <a:srgbClr val="0A4E8C"/>
              </a:solidFill>
            </c:spPr>
          </c:dPt>
          <c:cat>
            <c:strRef>
              <c:f>Sheet1!$A$2:$A$5</c:f>
              <c:strCache>
                <c:ptCount val="4"/>
                <c:pt idx="0">
                  <c:v>Debt Market
2023</c:v>
                </c:pt>
                <c:pt idx="1">
                  <c:v>Debt Market
2030</c:v>
                </c:pt>
                <c:pt idx="2">
                  <c:v>AI Finance
2024</c:v>
                </c:pt>
                <c:pt idx="3">
                  <c:v>AI Finance
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4.92</c:v>
                </c:pt>
                <c:pt idx="1">
                  <c:v>9.27</c:v>
                </c:pt>
                <c:pt idx="2">
                  <c:v>38.36</c:v>
                </c:pt>
                <c:pt idx="3">
                  <c:v>190.33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Performance Improvement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%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9B0000"/>
              </a:solidFill>
            </c:spPr>
          </c:dPt>
          <c:dPt>
            <c:idx val="2"/>
            <c:spPr>
              <a:solidFill>
                <a:srgbClr val="7A0000"/>
              </a:solidFill>
            </c:spPr>
          </c:dPt>
          <c:dPt>
            <c:idx val="3"/>
            <c:spPr>
              <a:solidFill>
                <a:srgbClr val="5C0000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cat>
            <c:strRef>
              <c:f>Sheet1!$A$2:$A$6</c:f>
              <c:strCache>
                <c:ptCount val="5"/>
                <c:pt idx="0">
                  <c:v>Recovery Rate
(Experian)</c:v>
                </c:pt>
                <c:pt idx="1">
                  <c:v>Collection Rate
(RTS Labs)</c:v>
                </c:pt>
                <c:pt idx="2">
                  <c:v>PTP Rate
(Apifonica)</c:v>
                </c:pt>
                <c:pt idx="3">
                  <c:v>Cost Reduction</c:v>
                </c:pt>
                <c:pt idx="4">
                  <c:v>Missed Reminders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107</c:v>
                </c:pt>
                <c:pt idx="3">
                  <c:v>78</c:v>
                </c:pt>
                <c:pt idx="4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dirty="0">
                <a:latin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</a:rPr>
              <a:t>AI-Based Smart Loan Recovery Calling System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Abhay Kumar Singh | Vipin Sharma | MD Ahsan Iqbal | Shivansh Setia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Supervised By: Faculty Mentor / Industry Guide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US" sz="20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Loan Recovery Crisis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challenges in traditional debt collection methods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success rate with traditional agents: Less than 20% — 4 out of 5 collection efforts fail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debt collection software market (2023): $4.92 Billion, growing at 9.6% CAGR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39% of Indian borrowers faced abusive or harassing recovery practices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Traditional methods are inefficient, costly, and harmful to borrower relationships. AI presents a transformative alternative.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4900000"/>
            <a:ext cx="27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 20%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Collection Success Rate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4 of 5 efforts fail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307200" y="4900000"/>
            <a:ext cx="2700000" cy="12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30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$4.92B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0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Debt Collection Market (2023)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0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9.6% CAGR growth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57200" y="4900000"/>
            <a:ext cx="2700000" cy="1200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5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39%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5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Indian Borrowers Harassed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5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High compliance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 — Why AI?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debt collection market: $4.92B (2023) to $9.27B (2030) — 88.4% growth, CAGR 9.6%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in Finance market: $38.36B (2024) to $190.33B (2030) — 396% growth, CAGR 30.6%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adoption in collections: 11% (2023) projected to exceed 70% by 2026 — a 536% increase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Market signals: Financial institutions are under significant pressure to modernise debt recovery using AI-driven systems for efficiency and compliance.</a:t>
            </a:r>
          </a:p>
        </p:txBody>
      </p:sp>
      <p:graphicFrame>
        <p:nvGraphicFramePr>
          <p:cNvPr id="111" name="Chart 110"/>
          <p:cNvGraphicFramePr>
            <a:graphicFrameLocks noGrp="1"/>
          </p:cNvGraphicFramePr>
          <p:nvPr/>
        </p:nvGraphicFramePr>
        <p:xfrm>
          <a:off x="4800000" y="950000"/>
          <a:ext cx="4000000" cy="3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2" name="Rectangle 111"/>
          <p:cNvSpPr/>
          <p:nvPr/>
        </p:nvSpPr>
        <p:spPr>
          <a:xfrm>
            <a:off x="457200" y="4650000"/>
            <a:ext cx="23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$9.27B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2030 Market Size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88.4% growth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57200" y="4650000"/>
            <a:ext cx="2300000" cy="12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9.6%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Annual growth rate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57200" y="4650000"/>
            <a:ext cx="2300000" cy="1200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70%+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AI Adoption Target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AI System Architecture: Develop robust, scalable architecture integrating data ingestion, predictive analytics, and conversational AI.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Examine Core AI Technologies: Analyse NLP, ASR, TTS, and ML algorithms for effectiveness in loan recovery scenarios.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 Integration Capabilities: Evaluate integration with LMS, CRM, and payment systems for seamless data flow.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RBI Compliance Framework: Assess regulatory requirements and develop mechanisms to ensure adherence to RBI guidelines.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 Real-World Case Studies: Analyse deployment results from India and Mexico to demonstrate practical effectiveness.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Challenges and Future Directions: Explore potential obstacles and research gaps to guide future development.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00000" y="9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780000" y="10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80000" y="10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10000" y="9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Design AI System Architecture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00000" y="18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780000" y="19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780000" y="19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10000" y="18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Examine Core AI Technologies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00000" y="26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780000" y="27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80000" y="27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0000" y="26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Analyse Integration Capabilities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00000" y="35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780000" y="36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80000" y="36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10000" y="35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Evaluate RBI Compliance Framework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00000" y="43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780000" y="44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780000" y="44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10000" y="43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Present Real-World Case Studies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00000" y="52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780000" y="53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780000" y="53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10000" y="52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Identify Challenges &amp; Future Directions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is built across five integrated layers: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Ingestion Layer: LMS, CRM, CIBIL integration — payment history, borrower profiles, and credit scores.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Analytics Layer: XGBoost and LightGBM models compute a Repayment Propensity Score for each borrower.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Conversational AI Layer: NLP + ASR + TTS enabling natural voice interaction in 10+ languages.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 Layer: BERT/LLM models for real-time distress detection during calls.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and Audit Layer: RBI rules enforcement with hard constraints and full audit logging.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980000"/>
            <a:ext cx="42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0000" y="98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20000" y="106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 Ingestion Layer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20000" y="142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LMS, CRM, CIBIL integration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00000" y="1940000"/>
            <a:ext cx="4200000" cy="88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80000" y="194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20000" y="202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Predictive Analytics Layer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20000" y="238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XGBoost, LightGBM → Propensity Score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00000" y="2900000"/>
            <a:ext cx="4200000" cy="88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680000" y="290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20000" y="298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Conversational AI Layer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20000" y="334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NLP + ASR + TTS, 10+ languages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3860000"/>
            <a:ext cx="4200000" cy="88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80000" y="386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20000" y="394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Sentiment Analysis Layer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20000" y="430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BERT/LLM real-time distress detection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000" y="4820000"/>
            <a:ext cx="4200000" cy="88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80000" y="482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20000" y="490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Compliance &amp; Audit Layer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20000" y="526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RBI rules + hard constraints +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AI Technologies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6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 Language Processing (NLP): Understands borrower intent regardless of phrasing — enables context-aware loan recovery conversations.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/ TTS (Speech Recognition and Synthesis): Real-time voice interaction supporting 10+ languages and 500+ dialects.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 / LightGBM: Gradient boosting algorithms for Repayment Propensity Scoring achieving 97% accuracy in real-time.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BERT / LLM: Transformer-based sentiment and distress classification for borrower emotional analysis.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Engine: Automates RBI rule enforcement and maintains full audit trail for every interaction.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 / ETL Pipeline: Real-time integration with LMS, CRM, CIBIL, and UPI for secure, seamless data flow.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00000" y="960000"/>
            <a:ext cx="1980000" cy="14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80000" y="106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80000" y="164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Intent understanding
across phrasings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80000" y="960000"/>
            <a:ext cx="1980000" cy="142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60000" y="106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ASR / TTS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60000" y="164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10+ languages,
500+ dialects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0000" y="2480000"/>
            <a:ext cx="1980000" cy="142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80000" y="258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XGBoost/LightGBM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80000" y="316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97% accuracy
propensity scoring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80000" y="2480000"/>
            <a:ext cx="1980000" cy="142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860000" y="258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BERT / LLM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60000" y="316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Sentiment &amp;
distress detection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00000" y="4000000"/>
            <a:ext cx="1980000" cy="142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80000" y="410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Compliance Engine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80000" y="468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RBI rules,
full audit trail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80000" y="4000000"/>
            <a:ext cx="1980000" cy="1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60000" y="410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 / ETL Pipeline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60000" y="468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LMS, CRM, CIBIL,
UPI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Call Flow Design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7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 — Identification and Disclosure: AI identifies itself and the lending institution at call start (RBI mandatory).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 — Intent Probing: Bot checks overdue awareness, payment ability, and timeline confirmation.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 — Offer Presentation: System presents repayment options (EMI, restructuring) based on Repayment Propensity Score.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 — Payment Facilitation: Integrates with UPI, SMS, and WhatsApp for immediate payment link delivery.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 — Escalation: Transfers to a human agent with full context transfer if borrower distress is detected.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700000" y="112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00000" y="112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0000" y="108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Identification &amp; Disclosure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0000" y="143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AI identifies itself + bank name (RBI mandatory)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600000" y="2010000"/>
            <a:ext cx="4250000" cy="9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700000" y="213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00000" y="213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Calibri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0000" y="209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Intent Probing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0000" y="244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Checks overdue awareness, payment ability, timeline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00000" y="302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700000" y="314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00000" y="314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0000" y="310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Offer Presentation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0000" y="345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Presents EMI/restructuring options via Propensity Score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600000" y="4030000"/>
            <a:ext cx="4250000" cy="9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700000" y="415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00000" y="415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Calibri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80000" y="411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Payment Facilitation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0000" y="446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UPI + SMS + WhatsApp payment link delivery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00000" y="504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700000" y="516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700000" y="516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0000" y="512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0000" y="547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Human agent transfer with full context if distress detected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Multilingual Capabilities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8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NLP module processes natural language from diverse borrowers, handling regional slang, code-switching, and informal phrasing.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supports 10+ Indian languages and 500+ dialects — covering Hindi, Tamil, Telugu, Marathi, Bengali, and more.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Intent recognition accurately identifies borrower goals: payment intent, dispute, hardship, or inquiry.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 management tracks conversation history across multiple turns, ensuring coherent and empathetic interactions.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 detection is automatic — the system identifies the borrower's language within the first few seconds and switches accordingly.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98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600000" y="98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80000" y="106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🌐  10+ Languages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80000" y="145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Hindi, Tamil, Telugu, Marathi, Bengali &amp; more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00000" y="2000000"/>
            <a:ext cx="4200000" cy="9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00000" y="200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80000" y="208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🎙️  500+ Dialects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80000" y="247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Comprehensive ASR training across regional variants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00000" y="302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600000" y="302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80000" y="310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🎯  Intent Recognition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80000" y="349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Payment intent, dispute, hardship, inquiry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4040000"/>
            <a:ext cx="4200000" cy="9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00000" y="404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80000" y="412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🔄  Context Management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80000" y="451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Multi-turn coherent conversations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000" y="506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600000" y="506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80000" y="514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⚡  Auto Language Switch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80000" y="553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Detects language within first few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Rezo AI — Indian NBFC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9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Client: Leading NBFC with 25M+ customers and a 630M loan book.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Efficiency improved from 85% to 97% after AI deployment.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Satisfaction improved from 62% to 89% simultaneously.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Human Escalation Rate reduced dramatically from 100% to just 22%.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Lessons:</a:t>
            </a:r>
          </a:p>
          <a:p>
            <a:pPr marL="914400" lvl="1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 localisation for multilingual borrowers was critical to adoption.</a:t>
            </a:r>
          </a:p>
          <a:p>
            <a:pPr marL="914400" lvl="1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Segmenting by default reason improved outcomes significantly.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2-week rollout, 30-day phased pilot across 10+ languages and 500+ dialects.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1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0000" y="11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Collection Efficiency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80000" y="16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85%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00000" y="1624400"/>
            <a:ext cx="2210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80000" y="19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97%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00000" y="1974400"/>
            <a:ext cx="2522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600000" y="26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80000" y="26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Customer Satisfaction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80000" y="31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62%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800000" y="3124400"/>
            <a:ext cx="1612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80000" y="34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89%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00000" y="3474400"/>
            <a:ext cx="2314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600000" y="41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80000" y="41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Human Escalation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80000" y="46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100%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800000" y="4624400"/>
            <a:ext cx="2600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680000" y="49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22%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00000" y="4974400"/>
            <a:ext cx="572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Apifonica — Mexico Microloans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10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Client: Mexican microloan provider targeting small-segment borrowers.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PTP (Promise to Pay) Rate improved from 0.29% to 0.60% — an increase of +107%.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Campaign Cost Savings: Average cost per resolved account dropped from $65,000 to $8,500 — a 78% reduction.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Campaign completed in 1 extra day versus nearly 2 months for human teams.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Optimal Automation Rate: 40–60% — blending AI efficiency with human empathy for best results.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AI simultaneously improves financial performance AND the borrower experience.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100000"/>
            <a:ext cx="1270000" cy="45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0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+107%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6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PTP Rate Improvement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6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0.29% → 0.60%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50000" y="1100000"/>
            <a:ext cx="1270000" cy="45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95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-78%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1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Cost Reduction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1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$65K → $8.5K per account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00000" y="1100000"/>
            <a:ext cx="1270000" cy="450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0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40-60%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6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Optimal Automation Rate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6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AI + human blend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Case Study Analysis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11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Geography: India (Rezo AI) vs. Mexico (Apifonica)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Loan Type: Consumer housing / SME / rural loans vs. consumer microloans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Segment: 40 DPD major / 90+ DPD accounts vs. 40–(DPD) focus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Outcome: 97% collection efficiency and +2Qps improvement vs. 2.6x PTP rate and 430k saved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2-week fast rollout vs. 30-day phased and staged approach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deployments confirm: AI simultaneously improves financial performance AND borrower experience.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1200000" cy="8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60000" y="100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20000" y="1000000"/>
            <a:ext cx="1450000" cy="8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80000" y="100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Rezo AI (India)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90000" y="1000000"/>
            <a:ext cx="1450000" cy="8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50000" y="100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Apifonica (Mexico)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00000" y="189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60000" y="189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Geography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820000" y="189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880000" y="189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India (Rezo AI)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90000" y="189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50000" y="189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Mexico (Apifonica)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278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60000" y="278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Loan Type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20000" y="278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880000" y="278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Consumer / SME / Rural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290000" y="278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350000" y="278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Consumer Microloans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00000" y="367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60000" y="367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Key Outcome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20000" y="367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880000" y="367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97% collection efficiency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90000" y="367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350000" y="367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2.6x PTP rate, 78% cost cut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0000" y="456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60000" y="456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Deployment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20000" y="456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80000" y="456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2-week fast rollout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290000" y="456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50000" y="456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30-day phased approach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00000" y="545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60000" y="545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AI Automation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20000" y="545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80000" y="545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~78% reduction in humans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290000" y="545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50000" y="545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40-60% optimal blend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ROI Across Real-World Deployments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Recovery Rate: +35% improvement reported by Experian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Rate: +30% improvement reported by RTS Labs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Promise-to-Pay (PTP) Rate: +107% improvement reported by Apifonica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Reduction: +78% reduction in operational costs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Missed Reminders: +35% reduction through automated follow-up scheduling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Sources: Rezo AI (2024); Apifonica (2024); Experian (2024); RTS Labs (2025)</a:t>
            </a:r>
          </a:p>
        </p:txBody>
      </p:sp>
      <p:graphicFrame>
        <p:nvGraphicFramePr>
          <p:cNvPr id="111" name="Chart 110"/>
          <p:cNvGraphicFramePr>
            <a:graphicFrameLocks noGrp="1"/>
          </p:cNvGraphicFramePr>
          <p:nvPr/>
        </p:nvGraphicFramePr>
        <p:xfrm>
          <a:off x="4600000" y="1000000"/>
          <a:ext cx="4200000" cy="4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Framework (RBI)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Contact Window: All calls are hard-limited to 8:00 AM – 7:00 PM as per RBI guidelines; auto-rescheduled if outside window.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Disclosure: AI identifies itself and the bank name at every call start — mandatory transparency requirement.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Recording: All calls are auto-recorded, archived, and made fully searchable with transcript support.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Harassment: NLP profanity filter and sentiment engine block violations, ensuring respectful communication at all times.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is embedded by design — not retrofitted as an afterthought — making the system audit-ready at all times.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2000000" cy="21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680000" y="108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80000" y="108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80000" y="145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⏰  Contact Window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80000" y="209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8:00 AM – 7:00 PM
Auto-rescheduled if outside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720000" y="1000000"/>
            <a:ext cx="2000000" cy="210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00000" y="108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00000" y="108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00000" y="145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🪪  Disclosure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00000" y="209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AI + Bank Name at call start
Mandatory RBI requirement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00000" y="3220000"/>
            <a:ext cx="2000000" cy="210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680000" y="330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680000" y="330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80000" y="367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🎙  Recording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80000" y="431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Auto-archived &amp; searchable
Full transcript support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20000" y="3220000"/>
            <a:ext cx="2000000" cy="210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00000" y="330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00000" y="330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00000" y="367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🛡  No Harassment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00000" y="431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NLP profanity filter
Sentiment engine blocks violations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and Mitigation Strategies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Privacy and Security: Sensitive borrower data protection via end-to-end encryption and PCI DSS compliance.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Regulatory Complexity: Multi-jurisdiction compliance handled through hard-coded regulatory constraints in system architecture.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Bias: Regular fairness audits and Explainable AI (XAI) ensure transparent, unbiased decision-making.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in Multilingual Context: 500+ dialect training data combined with human fallback for low-confidence cases.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Borrower Trust: Transparent AI disclosure and empathetic human-centric design to build confidence among borrowers.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mitigation strategies are actively implemented and continuously monitored.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80000" y="10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Data Privacy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00000" y="13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00000" y="13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00000" y="10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80000" y="10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End-to-end encryption + PCI DSS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00000" y="195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80000" y="19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Regulatory Complexity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00000" y="225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00000" y="225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00000" y="195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80000" y="19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Hard-coded compliance constraints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29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80000" y="29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Algorithmic Bias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00000" y="32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00000" y="32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00000" y="29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80000" y="29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Fairness audits + Explainable AI (XAI)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00000" y="385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80000" y="38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ASR Multilingual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00000" y="415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00000" y="415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00000" y="385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80000" y="38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500+ dialect training + human fallback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0000" y="48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80000" y="48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Borrower Trust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00000" y="51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00000" y="51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00000" y="48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880000" y="48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Transparent AI + empathetic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Voice Biometrics: Authentication during calls using voice biometrics for enhanced security and fraud prevention.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Multilingual NLP: Advanced NLP for Hindi-English, Tamil-English code-switching in multilingual conversation contexts.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Generative AI: Dynamic, context-aware call script generation for personalised borrower interactions.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Federated Learning: Privacy-preserving cross-bank model training without sharing sensitive borrower data.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AI (XAI): Transparent AI decisions for regulatory audit compliance and trust building.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Proactive Prevention: Identifying default risk before first missed payment using early-warning predictive analytics.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80000" y="960000"/>
            <a:ext cx="2020000" cy="15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760000" y="1040000"/>
            <a:ext cx="900000" cy="26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60000" y="104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Research Phase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60000" y="138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Voice Biometrics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0000" y="188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Auth during calls
Security &amp; fraud prevention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00000" y="960000"/>
            <a:ext cx="2020000" cy="154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880000" y="1040000"/>
            <a:ext cx="900000" cy="26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80000" y="104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Development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80000" y="138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Multilingual NLP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80000" y="188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Hindi/Tamil-English
code-switching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80000" y="2600000"/>
            <a:ext cx="2020000" cy="154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760000" y="2680000"/>
            <a:ext cx="900000" cy="260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60000" y="268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Testing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60000" y="302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Generative AI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60000" y="352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Dynamic context-aware
call script generation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800000" y="2600000"/>
            <a:ext cx="2020000" cy="154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80000" y="2680000"/>
            <a:ext cx="900000" cy="26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80000" y="268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Research Phase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80000" y="302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Federated Learning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80000" y="352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Privacy-preserving
cross-bank training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80000" y="4240000"/>
            <a:ext cx="2020000" cy="154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60000" y="4320000"/>
            <a:ext cx="900000" cy="26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760000" y="432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Development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60000" y="466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Explainable AI (XAI)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60000" y="516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Transparent decisions
Audit compliance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00000" y="4240000"/>
            <a:ext cx="2020000" cy="154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880000" y="4320000"/>
            <a:ext cx="900000" cy="260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880000" y="432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Testing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80000" y="466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Proactive Prevention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80000" y="516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Default risk before
first missed payment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2299</cp:revision>
  <dcterms:created xsi:type="dcterms:W3CDTF">2010-04-09T07:36:15Z</dcterms:created>
  <dcterms:modified xsi:type="dcterms:W3CDTF">2026-05-14T04:26:31Z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